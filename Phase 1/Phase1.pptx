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247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247650"/>
            <a:ext cx="495300" cy="4953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80" y="19050"/>
          <a:ext cx="12172950" cy="377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72950"/>
              </a:tblGrid>
              <a:tr h="37782">
                <a:tc>
                  <a:txBody>
                    <a:bodyPr/>
                    <a:lstStyle/>
                    <a:p>
                      <a:pPr>
                        <a:lnSpc>
                          <a:spcPts val="24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40" cap="flat" cmpd="sng" algn="ctr">
                      <a:solidFill>
                        <a:srgbClr val="2a64a5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2a64a5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690" y="1230630"/>
            <a:ext cx="4716780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2" b="1" sz="2900">
                <a:solidFill>
                  <a:srgbClr val="173E6B"/>
                </a:solidFill>
                <a:latin typeface="Noto Serif"/>
              </a:rPr>
              <a:t>PROJECT-BASED LEARNING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690" y="1764030"/>
            <a:ext cx="22390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5" sz="1800">
                <a:solidFill>
                  <a:srgbClr val="334155"/>
                </a:solidFill>
                <a:latin typeface="Noto Serif"/>
              </a:rPr>
              <a:t>PHASE-I EVALUATION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690" y="2548890"/>
            <a:ext cx="7839709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2" b="1" sz="2500">
                <a:solidFill>
                  <a:srgbClr val="173E6B"/>
                </a:solidFill>
                <a:latin typeface="Noto Serif"/>
              </a:rPr>
              <a:t>Autonomous Drone Fleet Routing Management System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690" y="3712210"/>
            <a:ext cx="26924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b="1" sz="1500">
                <a:solidFill>
                  <a:srgbClr val="2A64A5"/>
                </a:solidFill>
                <a:latin typeface="Noto Serif"/>
              </a:rPr>
              <a:t>Team ID: DSCPP-III-2026-T154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690" y="5204460"/>
            <a:ext cx="35509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b="1" sz="1300">
                <a:solidFill>
                  <a:srgbClr val="334155"/>
                </a:solidFill>
                <a:latin typeface="Noto Serif"/>
              </a:rPr>
              <a:t>Department of Computer Science &amp; Engineering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5640" y="5171440"/>
            <a:ext cx="267588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b="1" sz="1100">
                <a:solidFill>
                  <a:srgbClr val="2A64A5"/>
                </a:solidFill>
                <a:latin typeface="Noto Serif"/>
              </a:rPr>
              <a:t>DSA • C++ • Dijkstra • A* • Fleet Scheduling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690" y="5524500"/>
            <a:ext cx="30035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100">
                <a:solidFill>
                  <a:srgbClr val="475569"/>
                </a:solidFill>
                <a:latin typeface="Noto Serif"/>
              </a:rPr>
              <a:t>Graphic Era (Deemed to be University), Dehradun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690" y="5808980"/>
            <a:ext cx="158749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000">
                <a:solidFill>
                  <a:srgbClr val="64748B"/>
                </a:solidFill>
                <a:latin typeface="Noto Serif"/>
              </a:rPr>
              <a:t>Academic Session 2026–27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0" y="3429000"/>
            <a:ext cx="5029200" cy="38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90" y="3456940"/>
            <a:ext cx="5029200" cy="203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0" y="3429000"/>
            <a:ext cx="5029200" cy="38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90" y="3456940"/>
            <a:ext cx="5029200" cy="2032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90" y="3418840"/>
            <a:ext cx="5029200" cy="2032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90" y="3418840"/>
            <a:ext cx="5029200" cy="2032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0450" y="3009900"/>
            <a:ext cx="349250" cy="203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5200" y="2914650"/>
            <a:ext cx="539750" cy="393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550" y="3790950"/>
            <a:ext cx="349250" cy="203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6300" y="3695700"/>
            <a:ext cx="539750" cy="393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2150" y="4572000"/>
            <a:ext cx="349250" cy="203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900" y="4476750"/>
            <a:ext cx="539750" cy="393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69550" y="2692400"/>
            <a:ext cx="349250" cy="2032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4300" y="2597150"/>
            <a:ext cx="539750" cy="393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4600" y="3206750"/>
            <a:ext cx="1149350" cy="6731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74100" y="3016250"/>
            <a:ext cx="1530350" cy="10541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96300" y="3886200"/>
            <a:ext cx="1504950" cy="7747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5800" y="3695700"/>
            <a:ext cx="1885950" cy="1155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07600" y="2825750"/>
            <a:ext cx="501650" cy="10541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17100" y="2635250"/>
            <a:ext cx="882650" cy="143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162050"/>
            <a:ext cx="3797300" cy="1409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1066800"/>
            <a:ext cx="3987800" cy="1600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750" y="1162050"/>
            <a:ext cx="6496050" cy="2146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500" y="1066800"/>
            <a:ext cx="6686550" cy="2336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00" y="2921000"/>
            <a:ext cx="10521950" cy="920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950" y="2825750"/>
            <a:ext cx="10712450" cy="1111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361950"/>
            <a:ext cx="286639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6" b="1" sz="2200">
                <a:solidFill>
                  <a:srgbClr val="173E6B"/>
                </a:solidFill>
                <a:latin typeface="Noto Serif"/>
              </a:rPr>
              <a:t>Team &amp; Mentor Details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90" y="1315720"/>
            <a:ext cx="1473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7" b="1" sz="1200">
                <a:solidFill>
                  <a:srgbClr val="2A64A5"/>
                </a:solidFill>
                <a:latin typeface="Noto Serif"/>
              </a:rPr>
              <a:t>TEAM INFORMATION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315720"/>
            <a:ext cx="1177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b="1" sz="1200">
                <a:solidFill>
                  <a:srgbClr val="2A64A5"/>
                </a:solidFill>
                <a:latin typeface="Noto Serif"/>
              </a:rPr>
              <a:t>TEAM MEMBERS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90" y="1639570"/>
            <a:ext cx="19723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sz="1150">
                <a:solidFill>
                  <a:srgbClr val="334155"/>
                </a:solidFill>
                <a:latin typeface="Noto Serif"/>
              </a:rPr>
              <a:t>Team ID: DSCPP-III-2026-T154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639570"/>
            <a:ext cx="207899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150">
                <a:solidFill>
                  <a:srgbClr val="334155"/>
                </a:solidFill>
                <a:latin typeface="Noto Serif"/>
              </a:rPr>
              <a:t>1. Saksham Jain — 2510380116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90" y="1811020"/>
            <a:ext cx="90424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150">
                <a:solidFill>
                  <a:srgbClr val="334155"/>
                </a:solidFill>
                <a:latin typeface="Noto Serif"/>
              </a:rPr>
              <a:t>Semester: 3rd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11020"/>
            <a:ext cx="142747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150">
                <a:solidFill>
                  <a:srgbClr val="334155"/>
                </a:solidFill>
                <a:latin typeface="Noto Serif"/>
              </a:rPr>
              <a:t>2. Jiya — 2510370376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90" y="1982470"/>
            <a:ext cx="148589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150">
                <a:solidFill>
                  <a:srgbClr val="334155"/>
                </a:solidFill>
                <a:latin typeface="Noto Serif"/>
              </a:rPr>
              <a:t>Section: To be updated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982470"/>
            <a:ext cx="230250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sz="1150">
                <a:solidFill>
                  <a:srgbClr val="334155"/>
                </a:solidFill>
                <a:latin typeface="Noto Serif"/>
              </a:rPr>
              <a:t>3. Tamanna Bhinder — 2510380219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90" y="2153920"/>
            <a:ext cx="276479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150">
                <a:solidFill>
                  <a:srgbClr val="334155"/>
                </a:solidFill>
                <a:latin typeface="Noto Serif"/>
              </a:rPr>
              <a:t>Domain: Autonomous Systems / Logistics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90" y="2325370"/>
            <a:ext cx="82804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150">
                <a:solidFill>
                  <a:srgbClr val="334155"/>
                </a:solidFill>
                <a:latin typeface="Noto Serif"/>
              </a:rPr>
              <a:t>Optimization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990" y="3163570"/>
            <a:ext cx="6159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0" b="1" sz="1200">
                <a:solidFill>
                  <a:srgbClr val="2A64A5"/>
                </a:solidFill>
                <a:latin typeface="Noto Serif"/>
              </a:rPr>
              <a:t>MENTOR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6900" y="3106420"/>
            <a:ext cx="143002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150">
                <a:solidFill>
                  <a:srgbClr val="334155"/>
                </a:solidFill>
                <a:latin typeface="Noto Serif"/>
              </a:rPr>
              <a:t>(Prof.) Dr. Amit Kumar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0" y="3144520"/>
            <a:ext cx="23431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b="1" sz="1200">
                <a:solidFill>
                  <a:srgbClr val="334155"/>
                </a:solidFill>
                <a:latin typeface="Noto Serif"/>
              </a:rPr>
              <a:t>Interactions completed: __________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4387850"/>
            <a:ext cx="10414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6" b="1" sz="1500">
                <a:solidFill>
                  <a:srgbClr val="173E6B"/>
                </a:solidFill>
                <a:latin typeface="Noto Serif"/>
              </a:rPr>
              <a:t>Team Focus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4840" y="4387850"/>
            <a:ext cx="154051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b="1" sz="1500">
                <a:solidFill>
                  <a:srgbClr val="173E6B"/>
                </a:solidFill>
                <a:latin typeface="Noto Serif"/>
              </a:rPr>
              <a:t>Phase-I emphasis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30" y="4715510"/>
            <a:ext cx="196468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150">
                <a:solidFill>
                  <a:srgbClr val="000000"/>
                </a:solidFill>
                <a:latin typeface="Noto Serif"/>
              </a:rPr>
              <a:t>Architecture &amp; DSA integration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8350" y="4718050"/>
            <a:ext cx="145287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50">
                <a:solidFill>
                  <a:srgbClr val="000000"/>
                </a:solidFill>
                <a:latin typeface="Noto Serif"/>
              </a:rPr>
              <a:t>Problem formulation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630" y="4944110"/>
            <a:ext cx="238887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150">
                <a:solidFill>
                  <a:srgbClr val="000000"/>
                </a:solidFill>
                <a:latin typeface="Noto Serif"/>
              </a:rPr>
              <a:t>Scheduling &amp; telemetry management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8350" y="4965700"/>
            <a:ext cx="143890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250">
                <a:solidFill>
                  <a:srgbClr val="000000"/>
                </a:solidFill>
                <a:latin typeface="Noto Serif"/>
              </a:rPr>
              <a:t>Core data structures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630" y="5172710"/>
            <a:ext cx="231902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50">
                <a:solidFill>
                  <a:srgbClr val="000000"/>
                </a:solidFill>
                <a:latin typeface="Noto Serif"/>
              </a:rPr>
              <a:t>Testing, validation &amp; documentation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8350" y="5213350"/>
            <a:ext cx="203580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50">
                <a:solidFill>
                  <a:srgbClr val="000000"/>
                </a:solidFill>
                <a:latin typeface="Noto Serif"/>
              </a:rPr>
              <a:t>Routing workflow &amp; roadmap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2/10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92200"/>
            <a:ext cx="10560050" cy="105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996950"/>
            <a:ext cx="10750550" cy="1244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" y="2482850"/>
            <a:ext cx="3340100" cy="2520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0" y="2387600"/>
            <a:ext cx="3530600" cy="271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6550" y="2482850"/>
            <a:ext cx="3340100" cy="2520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1300" y="2387600"/>
            <a:ext cx="3530600" cy="271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1600" y="2482850"/>
            <a:ext cx="3435350" cy="252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6350" y="2387600"/>
            <a:ext cx="3625850" cy="271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361950"/>
            <a:ext cx="409702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1" b="1" sz="2200">
                <a:solidFill>
                  <a:srgbClr val="173E6B"/>
                </a:solidFill>
                <a:latin typeface="Noto Serif"/>
              </a:rPr>
              <a:t>Problem Statement &amp; Motivation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296670"/>
            <a:ext cx="16065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b="1" sz="1200">
                <a:solidFill>
                  <a:srgbClr val="2A64A5"/>
                </a:solidFill>
                <a:latin typeface="Noto Serif"/>
              </a:rPr>
              <a:t>PROBLEM STATEMENT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609090"/>
            <a:ext cx="9611360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b="1" sz="1100">
                <a:solidFill>
                  <a:srgbClr val="334155"/>
                </a:solidFill>
                <a:latin typeface="Noto Serif"/>
              </a:rPr>
              <a:t>Design a fleet-level routing engine that assigns delivery orders to autonomous drones while respecting deadlines, battery capacity, payload, and wind-aware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780539"/>
            <a:ext cx="1206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b="1" sz="1100">
                <a:solidFill>
                  <a:srgbClr val="334155"/>
                </a:solidFill>
                <a:latin typeface="Noto Serif"/>
              </a:rPr>
              <a:t>energy constraints.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90" y="2630170"/>
            <a:ext cx="144144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b="1" sz="1200">
                <a:solidFill>
                  <a:srgbClr val="2A64A5"/>
                </a:solidFill>
                <a:latin typeface="Noto Serif"/>
              </a:rPr>
              <a:t>WHY THIS MATTERS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30170"/>
            <a:ext cx="10210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b="1" sz="1200">
                <a:solidFill>
                  <a:srgbClr val="2A64A5"/>
                </a:solidFill>
                <a:latin typeface="Noto Serif"/>
              </a:rPr>
              <a:t>CURRENT GAP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2630170"/>
            <a:ext cx="234695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b="1" sz="1200">
                <a:solidFill>
                  <a:srgbClr val="2A64A5"/>
                </a:solidFill>
                <a:latin typeface="Noto Serif"/>
              </a:rPr>
              <a:t>TARGET USERS / STAKEHOLDERS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90" y="2960370"/>
            <a:ext cx="28041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000">
                <a:solidFill>
                  <a:srgbClr val="334155"/>
                </a:solidFill>
                <a:latin typeface="Noto Serif"/>
              </a:rPr>
              <a:t>Last-mile delivery is costly and congestion-prone.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960370"/>
            <a:ext cx="275335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000">
                <a:solidFill>
                  <a:srgbClr val="334155"/>
                </a:solidFill>
                <a:latin typeface="Noto Serif"/>
              </a:rPr>
              <a:t>Existing approaches often simplify flight physics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2961640"/>
            <a:ext cx="22085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7" sz="1100">
                <a:solidFill>
                  <a:srgbClr val="334155"/>
                </a:solidFill>
                <a:latin typeface="Noto Serif"/>
              </a:rPr>
              <a:t>• Logistics &amp; e-commerce operators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90" y="3112770"/>
            <a:ext cx="27647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000">
                <a:solidFill>
                  <a:srgbClr val="334155"/>
                </a:solidFill>
                <a:latin typeface="Noto Serif"/>
              </a:rPr>
              <a:t>Drones can use low-altitude airspace for point-to-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12770"/>
            <a:ext cx="288797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sz="1000">
                <a:solidFill>
                  <a:srgbClr val="334155"/>
                </a:solidFill>
                <a:latin typeface="Noto Serif"/>
              </a:rPr>
              <a:t>with static energy rates and zero wind disturbance.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0" y="3133090"/>
            <a:ext cx="2485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100">
                <a:solidFill>
                  <a:srgbClr val="334155"/>
                </a:solidFill>
                <a:latin typeface="Noto Serif"/>
              </a:rPr>
              <a:t>• Emergency / healthcare delivery teams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90" y="3265170"/>
            <a:ext cx="27927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0" sz="1000">
                <a:solidFill>
                  <a:srgbClr val="334155"/>
                </a:solidFill>
                <a:latin typeface="Noto Serif"/>
              </a:rPr>
              <a:t>point delivery, but fleet operation creates coupled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65170"/>
            <a:ext cx="25234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2" sz="1000">
                <a:solidFill>
                  <a:srgbClr val="334155"/>
                </a:solidFill>
                <a:latin typeface="Noto Serif"/>
              </a:rPr>
              <a:t>Practical dispatch also needs dynamic order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5750" y="3304540"/>
            <a:ext cx="11493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1" sz="1100">
                <a:solidFill>
                  <a:srgbClr val="334155"/>
                </a:solidFill>
                <a:latin typeface="Noto Serif"/>
              </a:rPr>
              <a:t>• Fleet dispatchers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90" y="3417570"/>
            <a:ext cx="29527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000">
                <a:solidFill>
                  <a:srgbClr val="334155"/>
                </a:solidFill>
                <a:latin typeface="Noto Serif"/>
              </a:rPr>
              <a:t>scheduling, routing, energy and deadline constraints.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417570"/>
            <a:ext cx="27876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000">
                <a:solidFill>
                  <a:srgbClr val="334155"/>
                </a:solidFill>
                <a:latin typeface="Noto Serif"/>
              </a:rPr>
              <a:t>prioritization, re-routing and synchronized battery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0" y="3475990"/>
            <a:ext cx="18034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100">
                <a:solidFill>
                  <a:srgbClr val="334155"/>
                </a:solidFill>
                <a:latin typeface="Noto Serif"/>
              </a:rPr>
              <a:t>• Drone operations managers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569970"/>
            <a:ext cx="7810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000">
                <a:solidFill>
                  <a:srgbClr val="334155"/>
                </a:solidFill>
                <a:latin typeface="Noto Serif"/>
              </a:rPr>
              <a:t>management.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5750" y="3647440"/>
            <a:ext cx="29629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100">
                <a:solidFill>
                  <a:srgbClr val="334155"/>
                </a:solidFill>
                <a:latin typeface="Noto Serif"/>
              </a:rPr>
              <a:t>• End customers awaiting time-critical deliveries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6050" y="5563870"/>
            <a:ext cx="612648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b="1" sz="1150">
                <a:solidFill>
                  <a:srgbClr val="2A64A5"/>
                </a:solidFill>
                <a:latin typeface="Noto Serif"/>
              </a:rPr>
              <a:t>Expected benefit: faster, energy-aware and deadline-conscious multi-drone mission planning.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3/10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150" y="1276350"/>
            <a:ext cx="2520950" cy="2514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1181100"/>
            <a:ext cx="2711450" cy="2705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361950"/>
            <a:ext cx="132207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6" b="1" sz="2200">
                <a:solidFill>
                  <a:srgbClr val="173E6B"/>
                </a:solidFill>
                <a:latin typeface="Noto Serif"/>
              </a:rPr>
              <a:t>Objectives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690" y="1184910"/>
            <a:ext cx="171957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b="1" sz="1300">
                <a:solidFill>
                  <a:srgbClr val="2A64A5"/>
                </a:solidFill>
                <a:latin typeface="Noto Serif"/>
              </a:rPr>
              <a:t>PROJECT OBJECTIVES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530" y="1606550"/>
            <a:ext cx="46634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sz="900">
                <a:solidFill>
                  <a:srgbClr val="000000"/>
                </a:solidFill>
                <a:latin typeface="Noto Serif"/>
              </a:rPr>
              <a:t>Formalize delivery time windows, battery constraints and wind-aware energy considerations.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2390" y="1612900"/>
            <a:ext cx="120395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b="1" sz="1300">
                <a:solidFill>
                  <a:srgbClr val="2A64A5"/>
                </a:solidFill>
                <a:latin typeface="Noto Serif"/>
              </a:rPr>
              <a:t>KEY OBJECTIVE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530" y="1863089"/>
            <a:ext cx="47752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900">
                <a:solidFill>
                  <a:srgbClr val="000000"/>
                </a:solidFill>
                <a:latin typeface="Noto Serif"/>
              </a:rPr>
              <a:t>Implement Min-Heap Priority Queue scheduling using Earliest-Deadline-First / urgency scoring.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530" y="2120900"/>
            <a:ext cx="41960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900">
                <a:solidFill>
                  <a:srgbClr val="000000"/>
                </a:solidFill>
                <a:latin typeface="Noto Serif"/>
              </a:rPr>
              <a:t>Represent 3D airway corridors with directed weighted graphs using adjacency lists.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740" y="2237740"/>
            <a:ext cx="16878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b="1" sz="1100">
                <a:solidFill>
                  <a:srgbClr val="173E6B"/>
                </a:solidFill>
                <a:latin typeface="Noto Serif"/>
              </a:rPr>
              <a:t>Reduce delivery makespan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530" y="2377440"/>
            <a:ext cx="37769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" sz="900">
                <a:solidFill>
                  <a:srgbClr val="000000"/>
                </a:solidFill>
                <a:latin typeface="Noto Serif"/>
              </a:rPr>
              <a:t>Implement Dijkstra and A* routing with dynamic edge-weight recalculation.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3790" y="240919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b="1" sz="1100">
                <a:solidFill>
                  <a:srgbClr val="173E6B"/>
                </a:solidFill>
                <a:latin typeface="Noto Serif"/>
              </a:rPr>
              <a:t>while maintaining mission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530" y="2635250"/>
            <a:ext cx="44577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900">
                <a:solidFill>
                  <a:srgbClr val="000000"/>
                </a:solidFill>
                <a:latin typeface="Noto Serif"/>
              </a:rPr>
              <a:t>Build a modular C++17 OOP engine and evaluate mission feasibility and fleet makespan.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2580640"/>
            <a:ext cx="15074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b="1" sz="1100">
                <a:solidFill>
                  <a:srgbClr val="173E6B"/>
                </a:solidFill>
                <a:latin typeface="Noto Serif"/>
              </a:rPr>
              <a:t>feasibility under battery,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2752090"/>
            <a:ext cx="15328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b="1" sz="1100">
                <a:solidFill>
                  <a:srgbClr val="173E6B"/>
                </a:solidFill>
                <a:latin typeface="Noto Serif"/>
              </a:rPr>
              <a:t>payload and wind-aware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0" y="2923540"/>
            <a:ext cx="12255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b="1" sz="1100">
                <a:solidFill>
                  <a:srgbClr val="173E6B"/>
                </a:solidFill>
                <a:latin typeface="Noto Serif"/>
              </a:rPr>
              <a:t>routing constraints.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5109210"/>
            <a:ext cx="200278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b="1" sz="1300">
                <a:solidFill>
                  <a:srgbClr val="2A64A5"/>
                </a:solidFill>
                <a:latin typeface="Noto Serif"/>
              </a:rPr>
              <a:t>Phase-I success indicators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890" y="5449570"/>
            <a:ext cx="165735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150">
                <a:solidFill>
                  <a:srgbClr val="000000"/>
                </a:solidFill>
                <a:latin typeface="Noto Serif"/>
              </a:rPr>
              <a:t>Clear system architecture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890" y="5678170"/>
            <a:ext cx="140589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50">
                <a:solidFill>
                  <a:srgbClr val="000000"/>
                </a:solidFill>
                <a:latin typeface="Noto Serif"/>
              </a:rPr>
              <a:t>Defined DSA modules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890" y="5906770"/>
            <a:ext cx="174243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150">
                <a:solidFill>
                  <a:srgbClr val="000000"/>
                </a:solidFill>
                <a:latin typeface="Noto Serif"/>
              </a:rPr>
              <a:t>Routing algorithm selected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890" y="6135370"/>
            <a:ext cx="168528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150">
                <a:solidFill>
                  <a:srgbClr val="000000"/>
                </a:solidFill>
                <a:latin typeface="Noto Serif"/>
              </a:rPr>
              <a:t>Benchmark plan identified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4/10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1473200"/>
            <a:ext cx="6540500" cy="692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1377950"/>
            <a:ext cx="6731000" cy="882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600200"/>
            <a:ext cx="444500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" y="1504950"/>
            <a:ext cx="635000" cy="628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" y="2286000"/>
            <a:ext cx="65405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0" y="2190750"/>
            <a:ext cx="6731000" cy="876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2406650"/>
            <a:ext cx="444500" cy="44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50" y="2311400"/>
            <a:ext cx="635000" cy="63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" y="3086100"/>
            <a:ext cx="6540500" cy="685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200" y="2990850"/>
            <a:ext cx="6731000" cy="876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3206750"/>
            <a:ext cx="444500" cy="444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50" y="3111500"/>
            <a:ext cx="635000" cy="635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" y="3886200"/>
            <a:ext cx="6540500" cy="685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200" y="3790950"/>
            <a:ext cx="6731000" cy="876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4019550"/>
            <a:ext cx="444500" cy="4381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" y="3924300"/>
            <a:ext cx="635000" cy="628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4692650"/>
            <a:ext cx="6540500" cy="6921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200" y="4597400"/>
            <a:ext cx="6731000" cy="882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4819650"/>
            <a:ext cx="444500" cy="4381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" y="4724400"/>
            <a:ext cx="635000" cy="628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1600" y="4343400"/>
            <a:ext cx="3155950" cy="1181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6350" y="4248150"/>
            <a:ext cx="3346450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400" y="361950"/>
            <a:ext cx="23114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2" b="1" sz="2200">
                <a:solidFill>
                  <a:srgbClr val="173E6B"/>
                </a:solidFill>
                <a:latin typeface="Noto Serif"/>
              </a:rPr>
              <a:t>Proposed Solution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690" y="1089660"/>
            <a:ext cx="17653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b="1" sz="1300">
                <a:solidFill>
                  <a:srgbClr val="2A64A5"/>
                </a:solidFill>
                <a:latin typeface="Noto Serif"/>
              </a:rPr>
              <a:t>PROPOSED APPROACH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2240" y="1089660"/>
            <a:ext cx="113283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2" b="1" sz="1300">
                <a:solidFill>
                  <a:srgbClr val="2A64A5"/>
                </a:solidFill>
                <a:latin typeface="Noto Serif"/>
              </a:rPr>
              <a:t>KEY FEATURES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320" y="1513840"/>
            <a:ext cx="222630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sz="1100">
                <a:solidFill>
                  <a:srgbClr val="000000"/>
                </a:solidFill>
                <a:latin typeface="Noto Serif"/>
              </a:rPr>
              <a:t>Deadline-aware dynamic scheduling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1714500"/>
            <a:ext cx="78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1" b="1" sz="1100">
                <a:solidFill>
                  <a:srgbClr val="FFFFFF"/>
                </a:solidFill>
                <a:latin typeface="Noto Serif"/>
              </a:rPr>
              <a:t>1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1631950"/>
            <a:ext cx="11442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7" b="1" sz="1300">
                <a:solidFill>
                  <a:srgbClr val="173E6B"/>
                </a:solidFill>
                <a:latin typeface="Noto Serif"/>
              </a:rPr>
              <a:t>Order ingestion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7100" y="1639570"/>
            <a:ext cx="216662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150">
                <a:solidFill>
                  <a:srgbClr val="334155"/>
                </a:solidFill>
                <a:latin typeface="Noto Serif"/>
              </a:rPr>
              <a:t>Coordinates • deadlines • payload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320" y="1799589"/>
            <a:ext cx="17919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100">
                <a:solidFill>
                  <a:srgbClr val="000000"/>
                </a:solidFill>
                <a:latin typeface="Noto Serif"/>
              </a:rPr>
              <a:t>Wind-aware energy modeling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4320" y="2085339"/>
            <a:ext cx="16027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100">
                <a:solidFill>
                  <a:srgbClr val="000000"/>
                </a:solidFill>
                <a:latin typeface="Noto Serif"/>
              </a:rPr>
              <a:t>3D airway corridor routing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320" y="2371090"/>
            <a:ext cx="21780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100">
                <a:solidFill>
                  <a:srgbClr val="000000"/>
                </a:solidFill>
                <a:latin typeface="Noto Serif"/>
              </a:rPr>
              <a:t>O(1)-average fleet telemetry lookup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" y="2523490"/>
            <a:ext cx="78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1" b="1" sz="1100">
                <a:solidFill>
                  <a:srgbClr val="FFFFFF"/>
                </a:solidFill>
                <a:latin typeface="Noto Serif"/>
              </a:rPr>
              <a:t>2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7800" y="2432050"/>
            <a:ext cx="13970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1" b="1" sz="1300">
                <a:solidFill>
                  <a:srgbClr val="173E6B"/>
                </a:solidFill>
                <a:latin typeface="Noto Serif"/>
              </a:rPr>
              <a:t>Priority scheduling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7100" y="2439670"/>
            <a:ext cx="156972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sz="1150">
                <a:solidFill>
                  <a:srgbClr val="334155"/>
                </a:solidFill>
                <a:latin typeface="Noto Serif"/>
              </a:rPr>
              <a:t>EDF Min-Heap / urgency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4320" y="2656840"/>
            <a:ext cx="26530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6" sz="1100">
                <a:solidFill>
                  <a:srgbClr val="000000"/>
                </a:solidFill>
                <a:latin typeface="Noto Serif"/>
              </a:rPr>
              <a:t>Scalable multi-drone mission management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600" y="3323590"/>
            <a:ext cx="78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1" b="1" sz="1100">
                <a:solidFill>
                  <a:srgbClr val="FFFFFF"/>
                </a:solidFill>
                <a:latin typeface="Noto Serif"/>
              </a:rPr>
              <a:t>3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7800" y="3242310"/>
            <a:ext cx="7810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b="1" sz="1300">
                <a:solidFill>
                  <a:srgbClr val="173E6B"/>
                </a:solidFill>
                <a:latin typeface="Noto Serif"/>
              </a:rPr>
              <a:t>Fleet state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67100" y="3239770"/>
            <a:ext cx="21882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150">
                <a:solidFill>
                  <a:srgbClr val="334155"/>
                </a:solidFill>
                <a:latin typeface="Noto Serif"/>
              </a:rPr>
              <a:t>Hash map telemetry • battery SoC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00" y="4133850"/>
            <a:ext cx="78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1" b="1" sz="1100">
                <a:solidFill>
                  <a:srgbClr val="FFFFFF"/>
                </a:solidFill>
                <a:latin typeface="Noto Serif"/>
              </a:rPr>
              <a:t>4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7800" y="4042410"/>
            <a:ext cx="14046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3" b="1" sz="1300">
                <a:solidFill>
                  <a:srgbClr val="173E6B"/>
                </a:solidFill>
                <a:latin typeface="Noto Serif"/>
              </a:rPr>
              <a:t>Route optimization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67100" y="4048760"/>
            <a:ext cx="148590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150">
                <a:solidFill>
                  <a:srgbClr val="334155"/>
                </a:solidFill>
                <a:latin typeface="Noto Serif"/>
              </a:rPr>
              <a:t>3D graph • Dijkstra / A*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72550" y="4592320"/>
            <a:ext cx="65150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b="1" sz="1200">
                <a:solidFill>
                  <a:srgbClr val="FFFFFF"/>
                </a:solidFill>
                <a:latin typeface="Noto Serif"/>
              </a:rPr>
              <a:t>Core idea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600" y="4933950"/>
            <a:ext cx="78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1" b="1" sz="1100">
                <a:solidFill>
                  <a:srgbClr val="FFFFFF"/>
                </a:solidFill>
                <a:latin typeface="Noto Serif"/>
              </a:rPr>
              <a:t>5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7800" y="4842510"/>
            <a:ext cx="11087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7" b="1" sz="1300">
                <a:solidFill>
                  <a:srgbClr val="173E6B"/>
                </a:solidFill>
                <a:latin typeface="Noto Serif"/>
              </a:rPr>
              <a:t>Mission output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7100" y="4848860"/>
            <a:ext cx="227202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50">
                <a:solidFill>
                  <a:srgbClr val="334155"/>
                </a:solidFill>
                <a:latin typeface="Noto Serif"/>
              </a:rPr>
              <a:t>Waypoints • feasibility • benchmark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90840" y="4937760"/>
            <a:ext cx="2547619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b="1" sz="1300">
                <a:solidFill>
                  <a:srgbClr val="FFFFFF"/>
                </a:solidFill>
                <a:latin typeface="Noto Serif"/>
              </a:rPr>
              <a:t>Schedule first </a:t>
            </a:r>
            <a:r>
              <a:rPr spc="-20" b="1" sz="1300">
                <a:solidFill>
                  <a:srgbClr val="FFFFFF"/>
                </a:solidFill>
                <a:latin typeface="Noto Sans Symbols"/>
              </a:rPr>
              <a:t>→</a:t>
            </a:r>
            <a:r>
              <a:rPr spc="-101" b="1" sz="1300">
                <a:solidFill>
                  <a:srgbClr val="FFFFFF"/>
                </a:solidFill>
                <a:latin typeface="Noto Serif"/>
              </a:rPr>
              <a:t> route intelligently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5800" y="5137150"/>
            <a:ext cx="1939290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1" b="1" sz="1300">
                <a:solidFill>
                  <a:srgbClr val="FFFFFF"/>
                </a:solidFill>
                <a:latin typeface="Noto Sans Symbols"/>
              </a:rPr>
              <a:t>→</a:t>
            </a:r>
            <a:r>
              <a:rPr spc="-94" b="1" sz="1300">
                <a:solidFill>
                  <a:srgbClr val="FFFFFF"/>
                </a:solidFill>
                <a:latin typeface="Noto Serif"/>
              </a:rPr>
              <a:t> verify energy &amp; mission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5337810"/>
            <a:ext cx="7569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8" b="1" sz="1300">
                <a:solidFill>
                  <a:srgbClr val="FFFFFF"/>
                </a:solidFill>
                <a:latin typeface="Noto Serif"/>
              </a:rPr>
              <a:t>feasibility.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5/10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162050"/>
            <a:ext cx="251460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1162050"/>
            <a:ext cx="4800600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162050"/>
            <a:ext cx="2876550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1619250"/>
            <a:ext cx="2514600" cy="781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1619250"/>
            <a:ext cx="4800600" cy="781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619250"/>
            <a:ext cx="2876550" cy="781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" y="2448560"/>
            <a:ext cx="2514600" cy="77977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8500" y="2448560"/>
            <a:ext cx="4800600" cy="7797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0" y="2448560"/>
            <a:ext cx="2876550" cy="7797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3266440"/>
            <a:ext cx="2514600" cy="7823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3266440"/>
            <a:ext cx="4800600" cy="78232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266440"/>
            <a:ext cx="2876550" cy="7823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4095750"/>
            <a:ext cx="2514600" cy="781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4095750"/>
            <a:ext cx="4800600" cy="781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095750"/>
            <a:ext cx="2876550" cy="781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050" y="5257800"/>
            <a:ext cx="9791700" cy="622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5162550"/>
            <a:ext cx="9982200" cy="812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361950"/>
            <a:ext cx="450088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9" b="1" sz="2200">
                <a:solidFill>
                  <a:srgbClr val="173E6B"/>
                </a:solidFill>
                <a:latin typeface="Noto Serif"/>
              </a:rPr>
              <a:t>Integration of PBL Course Concepts 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0550" y="1162050"/>
          <a:ext cx="2514600" cy="12382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</a:tblGrid>
              <a:tr h="452437">
                <a:tc>
                  <a:txBody>
                    <a:bodyPr/>
                    <a:lstStyle/>
                    <a:p>
                      <a:pPr>
                        <a:lnSpc>
                          <a:spcPts val="115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56" b="1" sz="1050">
                          <a:solidFill>
                            <a:srgbClr val="FFFFFF"/>
                          </a:solidFill>
                          <a:latin typeface="Noto Serif"/>
                        </a:rPr>
                        <a:t>Course / Concept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173e6b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173e6b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173e6b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173e6b">
                        <a:alpha val="100000"/>
                      </a:srgbClr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>
                        <a:lnSpc>
                          <a:spcPts val="262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48" sz="1050">
                          <a:solidFill>
                            <a:srgbClr val="334155"/>
                          </a:solidFill>
                          <a:latin typeface="Noto Serif"/>
                        </a:rPr>
                        <a:t>Data Structures &amp; Algorithms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38500" y="1162050"/>
          <a:ext cx="4800600" cy="12382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0600"/>
              </a:tblGrid>
              <a:tr h="452437">
                <a:tc>
                  <a:txBody>
                    <a:bodyPr/>
                    <a:lstStyle/>
                    <a:p>
                      <a:pPr>
                        <a:lnSpc>
                          <a:spcPts val="115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72" b="1" sz="1050">
                          <a:solidFill>
                            <a:srgbClr val="FFFFFF"/>
                          </a:solidFill>
                          <a:latin typeface="Noto Serif"/>
                        </a:rPr>
                        <a:t>Applied Concepts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173e6b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173e6b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173e6b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173e6b">
                        <a:alpha val="100000"/>
                      </a:srgbClr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>
                        <a:lnSpc>
                          <a:spcPts val="262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48" sz="1050">
                          <a:solidFill>
                            <a:srgbClr val="334155"/>
                          </a:solidFill>
                          <a:latin typeface="Noto Serif"/>
                        </a:rPr>
                        <a:t>Min-Heap, Graph Adjacency List, Hash Table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0" y="1162050"/>
          <a:ext cx="2876550" cy="12382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6550"/>
              </a:tblGrid>
              <a:tr h="452437">
                <a:tc>
                  <a:txBody>
                    <a:bodyPr/>
                    <a:lstStyle/>
                    <a:p>
                      <a:pPr>
                        <a:lnSpc>
                          <a:spcPts val="115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79" b="1" sz="1050">
                          <a:solidFill>
                            <a:srgbClr val="FFFFFF"/>
                          </a:solidFill>
                          <a:latin typeface="Noto Serif"/>
                        </a:rPr>
                        <a:t>Project Module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173e6b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173e6b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173e6b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173e6b">
                        <a:alpha val="100000"/>
                      </a:srgbClr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>
                        <a:lnSpc>
                          <a:spcPts val="262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38" sz="1050">
                          <a:solidFill>
                            <a:srgbClr val="334155"/>
                          </a:solidFill>
                          <a:latin typeface="Noto Serif"/>
                        </a:rPr>
                        <a:t>Scheduling / Routing / Telemetry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90550" y="2448560"/>
          <a:ext cx="2514600" cy="779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</a:tblGrid>
              <a:tr h="779779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49" sz="1050">
                          <a:solidFill>
                            <a:srgbClr val="334155"/>
                          </a:solidFill>
                          <a:latin typeface="Noto Serif"/>
                        </a:rPr>
                        <a:t>OOP with C++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38500" y="2448560"/>
          <a:ext cx="4800600" cy="779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0600"/>
              </a:tblGrid>
              <a:tr h="779779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33" sz="1050">
                          <a:solidFill>
                            <a:srgbClr val="334155"/>
                          </a:solidFill>
                          <a:latin typeface="Noto Serif"/>
                        </a:rPr>
                        <a:t>Classes, modular design, STL, encapsulation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0" y="2448560"/>
          <a:ext cx="2876550" cy="779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6550"/>
              </a:tblGrid>
              <a:tr h="779779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33" sz="1050">
                          <a:solidFill>
                            <a:srgbClr val="334155"/>
                          </a:solidFill>
                          <a:latin typeface="Noto Serif"/>
                        </a:rPr>
                        <a:t>Fleet / Order / Mission modules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0550" y="3266440"/>
          <a:ext cx="2514600" cy="782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</a:tblGrid>
              <a:tr h="782320">
                <a:tc>
                  <a:txBody>
                    <a:bodyPr/>
                    <a:lstStyle/>
                    <a:p>
                      <a:pPr>
                        <a:lnSpc>
                          <a:spcPts val="258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64" sz="1050">
                          <a:solidFill>
                            <a:srgbClr val="334155"/>
                          </a:solidFill>
                          <a:latin typeface="Noto Serif"/>
                        </a:rPr>
                        <a:t>Graph Algorithms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238500" y="3266440"/>
          <a:ext cx="4800600" cy="782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0600"/>
              </a:tblGrid>
              <a:tr h="782320">
                <a:tc>
                  <a:txBody>
                    <a:bodyPr/>
                    <a:lstStyle/>
                    <a:p>
                      <a:pPr>
                        <a:lnSpc>
                          <a:spcPts val="258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42" sz="1050">
                          <a:solidFill>
                            <a:srgbClr val="334155"/>
                          </a:solidFill>
                          <a:latin typeface="Noto Serif"/>
                        </a:rPr>
                        <a:t>Dijkstra, A* search, weighted edges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229600" y="3266440"/>
          <a:ext cx="2876550" cy="782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6550"/>
              </a:tblGrid>
              <a:tr h="782320">
                <a:tc>
                  <a:txBody>
                    <a:bodyPr/>
                    <a:lstStyle/>
                    <a:p>
                      <a:pPr>
                        <a:lnSpc>
                          <a:spcPts val="258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62" sz="1050">
                          <a:solidFill>
                            <a:srgbClr val="334155"/>
                          </a:solidFill>
                          <a:latin typeface="Noto Serif"/>
                        </a:rPr>
                        <a:t>3D airway routing core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90550" y="4095750"/>
          <a:ext cx="2514600" cy="781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</a:tblGrid>
              <a:tr h="78105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57" sz="1050">
                          <a:solidFill>
                            <a:srgbClr val="334155"/>
                          </a:solidFill>
                          <a:latin typeface="Noto Serif"/>
                        </a:rPr>
                        <a:t>Algorithmic Modeling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238500" y="4095750"/>
          <a:ext cx="4800600" cy="781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0600"/>
              </a:tblGrid>
              <a:tr h="78105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39" sz="1050">
                          <a:solidFill>
                            <a:srgbClr val="334155"/>
                          </a:solidFill>
                          <a:latin typeface="Noto Serif"/>
                        </a:rPr>
                        <a:t>Dynamic edge weights, feasibility checks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229600" y="4095750"/>
          <a:ext cx="2876550" cy="781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6550"/>
              </a:tblGrid>
              <a:tr h="78105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-65" sz="1050">
                          <a:solidFill>
                            <a:srgbClr val="334155"/>
                          </a:solidFill>
                          <a:latin typeface="Noto Serif"/>
                        </a:rPr>
                        <a:t>Wind + energy-aware routing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266950" y="5496560"/>
            <a:ext cx="705358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b="1" sz="1150">
                <a:solidFill>
                  <a:srgbClr val="2A64A5"/>
                </a:solidFill>
                <a:latin typeface="Noto Serif"/>
              </a:rPr>
              <a:t>Meaningful integration: scheduling + graph routing + fleet state management operate as one C++17 system.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6/10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320800"/>
            <a:ext cx="1739900" cy="77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1225550"/>
            <a:ext cx="1930400" cy="965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100" y="1685289"/>
            <a:ext cx="408939" cy="38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100" y="1685289"/>
            <a:ext cx="408939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0" y="1320800"/>
            <a:ext cx="1739900" cy="774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225550"/>
            <a:ext cx="1930400" cy="965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1685289"/>
            <a:ext cx="408939" cy="38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1685289"/>
            <a:ext cx="408939" cy="38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3150" y="1320800"/>
            <a:ext cx="1739900" cy="774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900" y="1225550"/>
            <a:ext cx="1930400" cy="965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685289"/>
            <a:ext cx="408940" cy="38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685289"/>
            <a:ext cx="408940" cy="38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800" y="1320800"/>
            <a:ext cx="1739900" cy="774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550" y="1225550"/>
            <a:ext cx="1930400" cy="965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890" y="1685289"/>
            <a:ext cx="410209" cy="38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890" y="1685289"/>
            <a:ext cx="410209" cy="381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750" y="1320800"/>
            <a:ext cx="1739900" cy="774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0500" y="1225550"/>
            <a:ext cx="1930400" cy="965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00" y="2514600"/>
            <a:ext cx="3244850" cy="2012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950" y="2419350"/>
            <a:ext cx="3435350" cy="2203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8450" y="2514600"/>
            <a:ext cx="3244850" cy="20129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3200" y="2419350"/>
            <a:ext cx="3435350" cy="2203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6350" y="2514600"/>
            <a:ext cx="3244850" cy="20129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1100" y="2419350"/>
            <a:ext cx="3435350" cy="2203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3400" y="361950"/>
            <a:ext cx="399922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6" b="1" sz="2200">
                <a:solidFill>
                  <a:srgbClr val="173E6B"/>
                </a:solidFill>
                <a:latin typeface="Noto Serif"/>
              </a:rPr>
              <a:t>System Architecture / Workflow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8090" y="1553210"/>
            <a:ext cx="46227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8" b="1" sz="1150">
                <a:solidFill>
                  <a:srgbClr val="173E6B"/>
                </a:solidFill>
                <a:latin typeface="Noto Serif"/>
              </a:rPr>
              <a:t>ORDER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62300" y="1553210"/>
            <a:ext cx="88518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0" b="1" sz="1150">
                <a:solidFill>
                  <a:srgbClr val="173E6B"/>
                </a:solidFill>
                <a:latin typeface="Noto Serif"/>
              </a:rPr>
              <a:t>SCHEDULING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8140" y="1553210"/>
            <a:ext cx="6261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9" b="1" sz="1150">
                <a:solidFill>
                  <a:srgbClr val="173E6B"/>
                </a:solidFill>
                <a:latin typeface="Noto Serif"/>
              </a:rPr>
              <a:t>ROUTING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6040" y="1553210"/>
            <a:ext cx="41275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8" b="1" sz="1150">
                <a:solidFill>
                  <a:srgbClr val="173E6B"/>
                </a:solidFill>
                <a:latin typeface="Noto Serif"/>
              </a:rPr>
              <a:t>FLEET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3600" y="1553210"/>
            <a:ext cx="59817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b="1" sz="1150">
                <a:solidFill>
                  <a:srgbClr val="173E6B"/>
                </a:solidFill>
                <a:latin typeface="Noto Serif"/>
              </a:rPr>
              <a:t>MISSION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690" y="1724660"/>
            <a:ext cx="75564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5" b="1" sz="1150">
                <a:solidFill>
                  <a:srgbClr val="173E6B"/>
                </a:solidFill>
                <a:latin typeface="Noto Serif"/>
              </a:rPr>
              <a:t>INGESTION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2640" y="1724660"/>
            <a:ext cx="51435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0" b="1" sz="1150">
                <a:solidFill>
                  <a:srgbClr val="173E6B"/>
                </a:solidFill>
                <a:latin typeface="Noto Serif"/>
              </a:rPr>
              <a:t>ENGINE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2600" y="1724660"/>
            <a:ext cx="3721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2" b="1" sz="1150">
                <a:solidFill>
                  <a:srgbClr val="173E6B"/>
                </a:solidFill>
                <a:latin typeface="Noto Serif"/>
              </a:rPr>
              <a:t>CORE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1724660"/>
            <a:ext cx="69977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2" b="1" sz="1150">
                <a:solidFill>
                  <a:srgbClr val="173E6B"/>
                </a:solidFill>
                <a:latin typeface="Noto Serif"/>
              </a:rPr>
              <a:t>MANAGER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2490" y="1724660"/>
            <a:ext cx="56515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2" b="1" sz="1150">
                <a:solidFill>
                  <a:srgbClr val="173E6B"/>
                </a:solidFill>
                <a:latin typeface="Noto Serif"/>
              </a:rPr>
              <a:t>OUTPUT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90" y="2659380"/>
            <a:ext cx="9550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b="1" sz="1200">
                <a:solidFill>
                  <a:srgbClr val="2A64A5"/>
                </a:solidFill>
                <a:latin typeface="Noto Serif"/>
              </a:rPr>
              <a:t>INPUT / DATA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5140" y="2659380"/>
            <a:ext cx="8572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8" b="1" sz="1200">
                <a:solidFill>
                  <a:srgbClr val="2A64A5"/>
                </a:solidFill>
                <a:latin typeface="Noto Serif"/>
              </a:rPr>
              <a:t>CORE LOGIC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0500" y="2659380"/>
            <a:ext cx="11823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b="1" sz="1200">
                <a:solidFill>
                  <a:srgbClr val="2A64A5"/>
                </a:solidFill>
                <a:latin typeface="Noto Serif"/>
              </a:rPr>
              <a:t>FLEET + OUTPUT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890" y="2992120"/>
            <a:ext cx="12915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200">
                <a:solidFill>
                  <a:srgbClr val="334155"/>
                </a:solidFill>
                <a:latin typeface="Noto Serif"/>
              </a:rPr>
              <a:t>Customer requests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5140" y="2992120"/>
            <a:ext cx="92328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150">
                <a:solidFill>
                  <a:srgbClr val="334155"/>
                </a:solidFill>
                <a:latin typeface="Noto Serif"/>
              </a:rPr>
              <a:t>EDF Min-Heap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0500" y="2992120"/>
            <a:ext cx="166242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150">
                <a:solidFill>
                  <a:srgbClr val="334155"/>
                </a:solidFill>
                <a:latin typeface="Noto Serif"/>
              </a:rPr>
              <a:t>unordered_map telemetry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890" y="3173730"/>
            <a:ext cx="157607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200">
                <a:solidFill>
                  <a:srgbClr val="334155"/>
                </a:solidFill>
                <a:latin typeface="Noto Serif"/>
              </a:rPr>
              <a:t>Geofenced coordinates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5140" y="3163570"/>
            <a:ext cx="151130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334155"/>
                </a:solidFill>
                <a:latin typeface="Noto Serif"/>
              </a:rPr>
              <a:t>3D adjacency-list graph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0500" y="3163570"/>
            <a:ext cx="1902459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2" sz="1150">
                <a:solidFill>
                  <a:srgbClr val="334155"/>
                </a:solidFill>
                <a:latin typeface="Noto Serif"/>
              </a:rPr>
              <a:t>Battery SoC / payload checks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890" y="3354070"/>
            <a:ext cx="122554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334155"/>
                </a:solidFill>
                <a:latin typeface="Noto Serif"/>
              </a:rPr>
              <a:t>Delivery deadlines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5140" y="3335020"/>
            <a:ext cx="78105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150">
                <a:solidFill>
                  <a:srgbClr val="334155"/>
                </a:solidFill>
                <a:latin typeface="Noto Serif"/>
              </a:rPr>
              <a:t>Dijkstra / A*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0" y="3335020"/>
            <a:ext cx="117094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150">
                <a:solidFill>
                  <a:srgbClr val="334155"/>
                </a:solidFill>
                <a:latin typeface="Noto Serif"/>
              </a:rPr>
              <a:t>Mission feasibility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0890" y="3535679"/>
            <a:ext cx="111124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200">
                <a:solidFill>
                  <a:srgbClr val="334155"/>
                </a:solidFill>
                <a:latin typeface="Noto Serif"/>
              </a:rPr>
              <a:t>Payload weights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5140" y="3506470"/>
            <a:ext cx="224409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50">
                <a:solidFill>
                  <a:srgbClr val="334155"/>
                </a:solidFill>
                <a:latin typeface="Noto Serif"/>
              </a:rPr>
              <a:t>Dynamic wind-aware edge weights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0500" y="3506470"/>
            <a:ext cx="238887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150">
                <a:solidFill>
                  <a:srgbClr val="334155"/>
                </a:solidFill>
                <a:latin typeface="Noto Serif"/>
              </a:rPr>
              <a:t>Waypoint generation / benchmarking 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371600" y="4523740"/>
          <a:ext cx="8638540" cy="638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8540"/>
              </a:tblGrid>
              <a:tr h="638810">
                <a:tc>
                  <a:txBody>
                    <a:bodyPr/>
                    <a:lstStyle/>
                    <a:p>
                      <a:pPr>
                        <a:lnSpc>
                          <a:spcPts val="3160"/>
                        </a:lnSpc>
                      </a:pPr>
                    </a:p>
                    <a:p>
                      <a:pPr marL="1598930" algn="l">
                        <a:lnSpc>
                          <a:spcPts val="1150"/>
                        </a:lnSpc>
                      </a:pPr>
                      <a:r>
                        <a:rPr spc="-66" b="1" sz="1150">
                          <a:solidFill>
                            <a:srgbClr val="2A64A5"/>
                          </a:solidFill>
                          <a:latin typeface="Noto Serif"/>
                        </a:rPr>
                        <a:t>Telemetry loop: mission state feeds fleet management for continuous feasibility checks. </a:t>
                      </a: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2a64a5">
                          <a:alpha val="100000"/>
                        </a:srgbClr>
                      </a:solidFill>
                    </a:lnL>
                    <a:lnR w="9525" cap="flat" cmpd="sng" algn="ctr">
                      <a:solidFill>
                        <a:srgbClr val="2a64a5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cap="flat" cmpd="sng" algn="ctr">
                      <a:solidFill>
                        <a:srgbClr val="2a64a5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7/10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181100"/>
            <a:ext cx="4991100" cy="3238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1085850"/>
            <a:ext cx="5181600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550" y="1181100"/>
            <a:ext cx="5073650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2300" y="1085850"/>
            <a:ext cx="5264150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650" y="4838700"/>
            <a:ext cx="9740900" cy="774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400" y="4743450"/>
            <a:ext cx="9931400" cy="96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361950"/>
            <a:ext cx="42037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7" b="1" sz="2200">
                <a:solidFill>
                  <a:srgbClr val="173E6B"/>
                </a:solidFill>
                <a:latin typeface="Noto Serif"/>
              </a:rPr>
              <a:t>Technology Stack &amp; Methodology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90" y="1334770"/>
            <a:ext cx="14960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7" b="1" sz="1200">
                <a:solidFill>
                  <a:srgbClr val="2A64A5"/>
                </a:solidFill>
                <a:latin typeface="Noto Serif"/>
              </a:rPr>
              <a:t>TECHNOLOGY STACK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1700" y="1334770"/>
            <a:ext cx="22174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0" b="1" sz="1200">
                <a:solidFill>
                  <a:srgbClr val="2A64A5"/>
                </a:solidFill>
                <a:latin typeface="Noto Serif"/>
              </a:rPr>
              <a:t>DEVELOPMENT METHODOLOGY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90" y="1657350"/>
            <a:ext cx="13220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100">
                <a:solidFill>
                  <a:srgbClr val="334155"/>
                </a:solidFill>
                <a:latin typeface="Noto Serif"/>
              </a:rPr>
              <a:t>Programming: C++17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1700" y="1657350"/>
            <a:ext cx="23634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100">
                <a:solidFill>
                  <a:srgbClr val="334155"/>
                </a:solidFill>
                <a:latin typeface="Noto Serif"/>
              </a:rPr>
              <a:t>1. Requirement &amp; problem formulation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90" y="1828800"/>
            <a:ext cx="13893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100">
                <a:solidFill>
                  <a:srgbClr val="334155"/>
                </a:solidFill>
                <a:latin typeface="Noto Serif"/>
              </a:rPr>
              <a:t>Compiler: GCC / Clang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1700" y="1828800"/>
            <a:ext cx="20612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1" sz="1100">
                <a:solidFill>
                  <a:srgbClr val="334155"/>
                </a:solidFill>
                <a:latin typeface="Noto Serif"/>
              </a:rPr>
              <a:t>2. System / data-structure design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90" y="2000250"/>
            <a:ext cx="9423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100">
                <a:solidFill>
                  <a:srgbClr val="334155"/>
                </a:solidFill>
                <a:latin typeface="Noto Serif"/>
              </a:rPr>
              <a:t>Platform: Linux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700" y="2000250"/>
            <a:ext cx="20777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100">
                <a:solidFill>
                  <a:srgbClr val="334155"/>
                </a:solidFill>
                <a:latin typeface="Noto Serif"/>
              </a:rPr>
              <a:t>3. Core algorithm implementation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90" y="2171700"/>
            <a:ext cx="8115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100">
                <a:solidFill>
                  <a:srgbClr val="334155"/>
                </a:solidFill>
                <a:latin typeface="Noto Serif"/>
              </a:rPr>
              <a:t>Build: CMake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1700" y="2171700"/>
            <a:ext cx="255777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100">
                <a:solidFill>
                  <a:srgbClr val="334155"/>
                </a:solidFill>
                <a:latin typeface="Noto Serif"/>
              </a:rPr>
              <a:t>4. Integration &amp; mission feasibility testing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90" y="2343150"/>
            <a:ext cx="20929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334155"/>
                </a:solidFill>
                <a:latin typeface="Noto Serif"/>
              </a:rPr>
              <a:t>Algorithms: Min-Heap, Dijkstra, A*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1700" y="2343150"/>
            <a:ext cx="19824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100">
                <a:solidFill>
                  <a:srgbClr val="334155"/>
                </a:solidFill>
                <a:latin typeface="Noto Serif"/>
              </a:rPr>
              <a:t>5. Benchmarking and evaluation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90" y="2514600"/>
            <a:ext cx="23888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100">
                <a:solidFill>
                  <a:srgbClr val="334155"/>
                </a:solidFill>
                <a:latin typeface="Noto Serif"/>
              </a:rPr>
              <a:t>Core containers: STL / unordered_map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90" y="2686050"/>
            <a:ext cx="19621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00">
                <a:solidFill>
                  <a:srgbClr val="334155"/>
                </a:solidFill>
                <a:latin typeface="Noto Serif"/>
              </a:rPr>
              <a:t>Documentation: Overleaf LaTeX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7800" y="5049520"/>
            <a:ext cx="17068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b="1" sz="1200">
                <a:solidFill>
                  <a:srgbClr val="FFFFFF"/>
                </a:solidFill>
                <a:latin typeface="Noto Serif"/>
              </a:rPr>
              <a:t>Why these technologies?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2690" y="4982210"/>
            <a:ext cx="654304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" sz="1150">
                <a:solidFill>
                  <a:srgbClr val="FFFFFF"/>
                </a:solidFill>
                <a:latin typeface="Noto Serif"/>
              </a:rPr>
              <a:t>C++17 provides performance and STL support for DSA-heavy routing; CMake keeps the multi-module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690" y="5153660"/>
            <a:ext cx="119888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150">
                <a:solidFill>
                  <a:srgbClr val="FFFFFF"/>
                </a:solidFill>
                <a:latin typeface="Noto Serif"/>
              </a:rPr>
              <a:t>build reproducible.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8/10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360" y="1572260"/>
            <a:ext cx="2009139" cy="4368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1572260"/>
            <a:ext cx="2237740" cy="4368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1572260"/>
            <a:ext cx="1047750" cy="4368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360" y="2009139"/>
            <a:ext cx="2009139" cy="8204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0" y="2009139"/>
            <a:ext cx="2237740" cy="8204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2009139"/>
            <a:ext cx="1047750" cy="8204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360" y="2857500"/>
            <a:ext cx="2009139" cy="819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0" y="2857500"/>
            <a:ext cx="2237740" cy="819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2857500"/>
            <a:ext cx="1047750" cy="819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1360" y="3705860"/>
            <a:ext cx="2009139" cy="8178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0" y="3705860"/>
            <a:ext cx="2237740" cy="81787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3705860"/>
            <a:ext cx="1047750" cy="8178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361950"/>
            <a:ext cx="456184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1" b="1" sz="2200">
                <a:solidFill>
                  <a:srgbClr val="173E6B"/>
                </a:solidFill>
                <a:latin typeface="Noto Serif"/>
              </a:rPr>
              <a:t>Initial Progress &amp; Team Contribution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640" y="1184910"/>
            <a:ext cx="15214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b="1" sz="1300">
                <a:solidFill>
                  <a:srgbClr val="2A64A5"/>
                </a:solidFill>
                <a:latin typeface="Noto Serif"/>
              </a:rPr>
              <a:t>PHASE-I PROGRESS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8190" y="1183640"/>
            <a:ext cx="46507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b="1" sz="1250">
                <a:solidFill>
                  <a:srgbClr val="2A64A5"/>
                </a:solidFill>
                <a:latin typeface="Noto Serif"/>
              </a:rPr>
              <a:t>INDIVIDUAL CONTRIBUTION — PHASE-I / PLANNED OWNERSHIP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530" y="1568450"/>
            <a:ext cx="204850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900">
                <a:solidFill>
                  <a:srgbClr val="000000"/>
                </a:solidFill>
                <a:latin typeface="Noto Serif"/>
              </a:rPr>
              <a:t>Project problem and motivation finalized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30" y="1797050"/>
            <a:ext cx="21056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" sz="900">
                <a:solidFill>
                  <a:srgbClr val="000000"/>
                </a:solidFill>
                <a:latin typeface="Noto Serif"/>
              </a:rPr>
              <a:t>Literature / current-solution gap identified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30" y="2025650"/>
            <a:ext cx="27190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1" sz="900">
                <a:solidFill>
                  <a:srgbClr val="000000"/>
                </a:solidFill>
                <a:latin typeface="Noto Serif"/>
              </a:rPr>
              <a:t>System architecture and module boundaries prepared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530" y="2254250"/>
            <a:ext cx="28524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900">
                <a:solidFill>
                  <a:srgbClr val="000000"/>
                </a:solidFill>
                <a:latin typeface="Noto Serif"/>
              </a:rPr>
              <a:t>Core DSA plan selected: Min-Heap + Graph + Hash Table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530" y="2482850"/>
            <a:ext cx="303149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900">
                <a:solidFill>
                  <a:srgbClr val="000000"/>
                </a:solidFill>
                <a:latin typeface="Noto Serif"/>
              </a:rPr>
              <a:t>Routing strategy defined: Dijkstra / A* with dynamic weights 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800090" y="1572260"/>
          <a:ext cx="5306059" cy="2951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0410"/>
                <a:gridCol w="2245359"/>
                <a:gridCol w="1050290"/>
              </a:tblGrid>
              <a:tr h="436879"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</a:p>
                    <a:p>
                      <a:pPr algn="ctr">
                        <a:lnSpc>
                          <a:spcPts val="950"/>
                        </a:lnSpc>
                      </a:pPr>
                      <a:r>
                        <a:rPr spc="-108" b="1" sz="950">
                          <a:solidFill>
                            <a:srgbClr val="FFFFFF"/>
                          </a:solidFill>
                          <a:latin typeface="Noto Serif"/>
                        </a:rPr>
                        <a:t>Member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173e6b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173e6b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173e6b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173e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</a:p>
                    <a:p>
                      <a:pPr algn="ctr">
                        <a:lnSpc>
                          <a:spcPts val="950"/>
                        </a:lnSpc>
                      </a:pPr>
                      <a:r>
                        <a:rPr spc="-74" b="1" sz="950">
                          <a:solidFill>
                            <a:srgbClr val="FFFFFF"/>
                          </a:solidFill>
                          <a:latin typeface="Noto Serif"/>
                        </a:rPr>
                        <a:t>Responsibility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173e6b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173e6b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173e6b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173e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</a:p>
                    <a:p>
                      <a:pPr algn="ctr">
                        <a:lnSpc>
                          <a:spcPts val="950"/>
                        </a:lnSpc>
                      </a:pPr>
                      <a:r>
                        <a:rPr spc="-77" b="1" sz="950">
                          <a:solidFill>
                            <a:srgbClr val="FFFFFF"/>
                          </a:solidFill>
                          <a:latin typeface="Noto Serif"/>
                        </a:rPr>
                        <a:t>Focus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173e6b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173e6b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173e6b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173e6b">
                        <a:alpha val="100000"/>
                      </a:srgbClr>
                    </a:solidFill>
                  </a:tcPr>
                </a:tc>
              </a:tr>
              <a:tr h="847923">
                <a:tc>
                  <a:txBody>
                    <a:bodyPr/>
                    <a:lstStyle/>
                    <a:p>
                      <a:pPr>
                        <a:lnSpc>
                          <a:spcPts val="2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30" sz="900">
                          <a:solidFill>
                            <a:srgbClr val="334155"/>
                          </a:solidFill>
                          <a:latin typeface="Noto Serif"/>
                        </a:rPr>
                        <a:t>Saksham Jain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-39" sz="1000">
                          <a:solidFill>
                            <a:srgbClr val="334155"/>
                          </a:solidFill>
                          <a:latin typeface="Noto Serif"/>
                        </a:rPr>
                        <a:t>System architecture, routing </a:t>
                      </a:r>
                      <a:br/>
                      <a:r>
                        <a:rPr spc="-51" sz="1000">
                          <a:solidFill>
                            <a:srgbClr val="334155"/>
                          </a:solidFill>
                          <a:latin typeface="Noto Serif"/>
                        </a:rPr>
                        <a:t>engine, DSA integration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8" sz="900">
                          <a:solidFill>
                            <a:srgbClr val="334155"/>
                          </a:solidFill>
                          <a:latin typeface="Noto Serif"/>
                        </a:rPr>
                        <a:t>Architecture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48340"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</a:p>
                    <a:p>
                      <a:pPr algn="ctr">
                        <a:lnSpc>
                          <a:spcPts val="1000"/>
                        </a:lnSpc>
                      </a:pPr>
                      <a:r>
                        <a:rPr spc="-53" sz="1000">
                          <a:solidFill>
                            <a:srgbClr val="334155"/>
                          </a:solidFill>
                          <a:latin typeface="Noto Serif"/>
                        </a:rPr>
                        <a:t>Jiya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7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-30" sz="1000">
                          <a:solidFill>
                            <a:srgbClr val="334155"/>
                          </a:solidFill>
                          <a:latin typeface="Noto Serif"/>
                        </a:rPr>
                        <a:t>Scheduling / telemetry data </a:t>
                      </a:r>
                      <a:br/>
                      <a:r>
                        <a:rPr spc="-51" sz="1000">
                          <a:solidFill>
                            <a:srgbClr val="334155"/>
                          </a:solidFill>
                          <a:latin typeface="Noto Serif"/>
                        </a:rPr>
                        <a:t>structures and validation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1" sz="900">
                          <a:solidFill>
                            <a:srgbClr val="334155"/>
                          </a:solidFill>
                          <a:latin typeface="Noto Serif"/>
                        </a:rPr>
                        <a:t>Scheduling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18336"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</a:p>
                    <a:p>
                      <a:pPr algn="ctr">
                        <a:lnSpc>
                          <a:spcPts val="1000"/>
                        </a:lnSpc>
                      </a:pPr>
                      <a:r>
                        <a:rPr spc="-71" sz="1000">
                          <a:solidFill>
                            <a:srgbClr val="334155"/>
                          </a:solidFill>
                          <a:latin typeface="Noto Serif"/>
                        </a:rPr>
                        <a:t>Tamanna Bhinder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7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-42" sz="1000">
                          <a:solidFill>
                            <a:srgbClr val="334155"/>
                          </a:solidFill>
                          <a:latin typeface="Noto Serif"/>
                        </a:rPr>
                        <a:t>Order-energy model, testing </a:t>
                      </a:r>
                      <a:br/>
                      <a:r>
                        <a:rPr spc="-48" sz="1000">
                          <a:solidFill>
                            <a:srgbClr val="334155"/>
                          </a:solidFill>
                          <a:latin typeface="Noto Serif"/>
                        </a:rPr>
                        <a:t>support and documentation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3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0" sz="900">
                          <a:solidFill>
                            <a:srgbClr val="334155"/>
                          </a:solidFill>
                          <a:latin typeface="Noto Serif"/>
                        </a:rPr>
                        <a:t>Testing 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d7e3f0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d7e3f0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d7e3f0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d7e3f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11530" y="2711450"/>
            <a:ext cx="26174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7" sz="900">
                <a:solidFill>
                  <a:srgbClr val="000000"/>
                </a:solidFill>
                <a:latin typeface="Noto Serif"/>
              </a:rPr>
              <a:t>Milestones and benchmarking direction established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3190" y="6591300"/>
            <a:ext cx="14731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550">
                <a:solidFill>
                  <a:srgbClr val="64748B"/>
                </a:solidFill>
                <a:latin typeface="Noto Serif"/>
              </a:rPr>
              <a:t>9/10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84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050" y="4705350"/>
            <a:ext cx="3930650" cy="95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00" y="4610100"/>
            <a:ext cx="412115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361950"/>
            <a:ext cx="558546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9" b="1" sz="2200">
                <a:solidFill>
                  <a:srgbClr val="173E6B"/>
                </a:solidFill>
                <a:latin typeface="Noto Serif"/>
              </a:rPr>
              <a:t>Roadmap, Expected Outcomes &amp; References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0" y="1184910"/>
            <a:ext cx="7975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8" b="1" sz="1300">
                <a:solidFill>
                  <a:srgbClr val="2A64A5"/>
                </a:solidFill>
                <a:latin typeface="Noto Serif"/>
              </a:rPr>
              <a:t>ROADMAP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8190" y="1184910"/>
            <a:ext cx="9956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9" b="1" sz="1300">
                <a:solidFill>
                  <a:srgbClr val="2A64A5"/>
                </a:solidFill>
                <a:latin typeface="Noto Serif"/>
              </a:rPr>
              <a:t>REFERENCES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769" y="1543050"/>
            <a:ext cx="16687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0" sz="1100">
                <a:solidFill>
                  <a:srgbClr val="000000"/>
                </a:solidFill>
                <a:latin typeface="Noto Serif"/>
              </a:rPr>
              <a:t>Phase-I: Proposal &amp; Design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6450" y="1539240"/>
            <a:ext cx="4847590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900">
                <a:solidFill>
                  <a:srgbClr val="000000"/>
                </a:solidFill>
                <a:latin typeface="Noto Serif"/>
              </a:rPr>
              <a:t>• Attenni et al., IEEE Access, 2023 — Drone-based Delivery Systems: A survey on Route Planning.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6450" y="1778000"/>
            <a:ext cx="46672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sz="900">
                <a:solidFill>
                  <a:srgbClr val="000000"/>
                </a:solidFill>
                <a:latin typeface="Noto Serif"/>
              </a:rPr>
              <a:t>• Kong, Wei &amp; Jiang, Drones, 2026 — Literature Review of Vehicle and Drone Delivery Routing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769" y="1828800"/>
            <a:ext cx="25374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100">
                <a:solidFill>
                  <a:srgbClr val="000000"/>
                </a:solidFill>
                <a:latin typeface="Noto Serif"/>
              </a:rPr>
              <a:t>Phase-II: Core Development &amp; Integration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6450" y="1920239"/>
            <a:ext cx="51688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900">
                <a:solidFill>
                  <a:srgbClr val="000000"/>
                </a:solidFill>
                <a:latin typeface="Noto Serif"/>
              </a:rPr>
              <a:t>Problems.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69" y="2114550"/>
            <a:ext cx="3949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00">
                <a:solidFill>
                  <a:srgbClr val="000000"/>
                </a:solidFill>
                <a:latin typeface="Noto Serif"/>
              </a:rPr>
              <a:t>Phase-III: Final Implementation, Benchmarking &amp; Demonstration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6450" y="2159000"/>
            <a:ext cx="35077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2" sz="900">
                <a:solidFill>
                  <a:srgbClr val="000000"/>
                </a:solidFill>
                <a:latin typeface="Noto Serif"/>
              </a:rPr>
              <a:t>• Pathan et al., IJARCCE, 2025 — Autonomous Drone Delivery System.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6450" y="2396490"/>
            <a:ext cx="463930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7" sz="900">
                <a:solidFill>
                  <a:srgbClr val="000000"/>
                </a:solidFill>
                <a:latin typeface="Noto Serif"/>
              </a:rPr>
              <a:t>• Murray &amp; Chu, Transportation Research Part C, 2015 — Flying Sidekick Traveling Salesman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450" y="2540000"/>
            <a:ext cx="4572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900">
                <a:solidFill>
                  <a:srgbClr val="000000"/>
                </a:solidFill>
                <a:latin typeface="Noto Serif"/>
              </a:rPr>
              <a:t>Problem.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3280410"/>
            <a:ext cx="172592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b="1" sz="1300">
                <a:solidFill>
                  <a:srgbClr val="2A64A5"/>
                </a:solidFill>
                <a:latin typeface="Noto Serif"/>
              </a:rPr>
              <a:t>EXPECTED OUTCOMES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618229"/>
            <a:ext cx="2159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sz="1000">
                <a:solidFill>
                  <a:srgbClr val="000000"/>
                </a:solidFill>
                <a:latin typeface="Noto Serif"/>
              </a:rPr>
              <a:t>Compilable C++17 fleet-routing engine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846829"/>
            <a:ext cx="30251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000">
                <a:solidFill>
                  <a:srgbClr val="000000"/>
                </a:solidFill>
                <a:latin typeface="Noto Serif"/>
              </a:rPr>
              <a:t>Dynamic order assignment and 3D trajectory modules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4075429"/>
            <a:ext cx="20053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000">
                <a:solidFill>
                  <a:srgbClr val="000000"/>
                </a:solidFill>
                <a:latin typeface="Noto Serif"/>
              </a:rPr>
              <a:t>Energy / wind computation routines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4304030"/>
            <a:ext cx="33274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0" sz="1000">
                <a:solidFill>
                  <a:srgbClr val="000000"/>
                </a:solidFill>
                <a:latin typeface="Noto Serif"/>
              </a:rPr>
              <a:t>Benchmark datasets for makespan and energy comparison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1950" y="4954270"/>
            <a:ext cx="119507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3" b="1" sz="1700">
                <a:solidFill>
                  <a:srgbClr val="FFFFFF"/>
                </a:solidFill>
                <a:latin typeface="Noto Serif"/>
              </a:rPr>
              <a:t>THANK YOU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278120"/>
            <a:ext cx="162560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150">
                <a:solidFill>
                  <a:srgbClr val="FFFFFF"/>
                </a:solidFill>
                <a:latin typeface="Noto Serif"/>
              </a:rPr>
              <a:t>Questions &amp; Suggestions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15090" y="6591300"/>
            <a:ext cx="186689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550">
                <a:solidFill>
                  <a:srgbClr val="64748B"/>
                </a:solidFill>
                <a:latin typeface="Noto Serif"/>
              </a:rPr>
              <a:t>10/10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50" y="6601459"/>
            <a:ext cx="57315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50">
                <a:solidFill>
                  <a:srgbClr val="64748B"/>
                </a:solidFill>
                <a:latin typeface="Noto Serif"/>
              </a:rPr>
              <a:t>Department of Computer Science &amp; Engineering — Graphic Era (Deemed to be University)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751840"/>
            <a:ext cx="10467340" cy="2031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139700"/>
            <a:ext cx="387350" cy="387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